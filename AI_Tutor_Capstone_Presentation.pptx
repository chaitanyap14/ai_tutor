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94484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998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4D399"/>
                </a:solidFill>
              </a:defRPr>
            </a:pPr>
            <a:r>
              <a:t>CAPSTONE PROJECT PRESENTATION</a:t>
            </a:r>
          </a:p>
          <a:p>
            <a:pPr>
              <a:spcAft>
                <a:spcPts val="2000"/>
              </a:spcAft>
              <a:defRPr sz="3000" b="1">
                <a:solidFill>
                  <a:srgbClr val="F0F6FC"/>
                </a:solidFill>
              </a:defRPr>
            </a:pPr>
            <a:r>
              <a:t>AI-Based Personalized Tutor Using RAG</a:t>
            </a:r>
            <a:br/>
            <a:r>
              <a:t>for Syllabus-Aligned Learning</a:t>
            </a:r>
          </a:p>
          <a:p>
            <a:pPr>
              <a:spcAft>
                <a:spcPts val="3000"/>
              </a:spcAft>
              <a:defRPr sz="1400">
                <a:solidFill>
                  <a:srgbClr val="8B949E"/>
                </a:solidFill>
              </a:defRPr>
            </a:pPr>
            <a:r>
              <a:t>An Intelligent Educational AI System Grounded Strictly in Course Materials to Eliminate LLM Hallucination &amp; Optimize Exam Preparation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Technology Stack: Python 3.14 | Streamlit | TF-IDF Vector Database | Google Gemini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AI-Based Personalized Tutor Using RAG for Syllabus-Aligned Learning  | 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Arial"/>
              </a:defRPr>
            </a:pPr>
            <a:r>
              <a:t>CAPSTONE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Introduction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0F6FC"/>
                </a:solidFill>
              </a:defRPr>
            </a:pPr>
            <a:r>
              <a:t>•  Exam Preparation Struggles: Students face immense difficulties preparing for exams due to fragmented resources and lack of targeted study material.</a:t>
            </a:r>
          </a:p>
          <a:p>
            <a:pPr>
              <a:spcAft>
                <a:spcPts val="1000"/>
              </a:spcAft>
              <a:defRPr sz="1100">
                <a:solidFill>
                  <a:srgbClr val="F0F6FC"/>
                </a:solidFill>
              </a:defRPr>
            </a:pPr>
            <a:r>
              <a:t>•  Generic LLM Hallucinations: Standard LLMs (ChatGPT, Gemini, Claude) generate generic, out-of-syllabus responses that introduce irrelevant topics.</a:t>
            </a:r>
          </a:p>
          <a:p>
            <a:pPr>
              <a:spcAft>
                <a:spcPts val="1000"/>
              </a:spcAft>
              <a:defRPr sz="1100">
                <a:solidFill>
                  <a:srgbClr val="F0F6FC"/>
                </a:solidFill>
              </a:defRPr>
            </a:pPr>
            <a:r>
              <a:t>•  Inconsistency &amp; Time Waste: Reading entire textbooks before exams is extremely time-consuming, while un-grounded AI chatbots waste time with false info.</a:t>
            </a:r>
          </a:p>
          <a:p>
            <a:pPr>
              <a:spcAft>
                <a:spcPts val="1000"/>
              </a:spcAft>
              <a:defRPr sz="1100">
                <a:solidFill>
                  <a:srgbClr val="F0F6FC"/>
                </a:solidFill>
              </a:defRPr>
            </a:pPr>
            <a:r>
              <a:t>•  Lack of Structured Planning: Without a personalized prep roadmap aligned with exam timelines, students fail to cover crucial syllabus topics effectively.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554480"/>
            <a:ext cx="5120640" cy="4480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554480"/>
            <a:ext cx="5120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2415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Problem Impact &amp; Industry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2415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0F6FC"/>
                </a:solidFill>
              </a:defRPr>
            </a:pPr>
            <a:r>
              <a:t>•  High Failure &amp; Anxiety Rates: Students spend hours sifting through non-syllabus content right before exams, leading to poor prep quality.</a:t>
            </a:r>
          </a:p>
          <a:p>
            <a:pPr>
              <a:spcAft>
                <a:spcPts val="1000"/>
              </a:spcAft>
              <a:defRPr sz="1100">
                <a:solidFill>
                  <a:srgbClr val="F0F6FC"/>
                </a:solidFill>
              </a:defRPr>
            </a:pPr>
            <a:r>
              <a:t>•  No Trust in AI Answers: Generic AI responses lack source verification, preventing students from cross-checking textbook references.</a:t>
            </a:r>
          </a:p>
          <a:p>
            <a:pPr>
              <a:spcAft>
                <a:spcPts val="1000"/>
              </a:spcAft>
              <a:defRPr sz="1100">
                <a:solidFill>
                  <a:srgbClr val="F0F6FC"/>
                </a:solidFill>
              </a:defRPr>
            </a:pPr>
            <a:r>
              <a:t>•  Core Requirement: There is a vital need for an intelligent AI tutor that generates responses strictly from syllabus documents with verifiable page citations.</a:t>
            </a:r>
          </a:p>
          <a:p>
            <a:pPr>
              <a:spcAft>
                <a:spcPts val="1000"/>
              </a:spcAft>
              <a:defRPr sz="1100">
                <a:solidFill>
                  <a:srgbClr val="F0F6FC"/>
                </a:solidFill>
              </a:defRPr>
            </a:pPr>
            <a:r>
              <a:t>•  Multi-Format Ingestion: Students need a single platform capable of ingesting PDF textbooks, DOCX notes, PPTX slides, and TXT files seamlessly.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AI-Based Personalized Tutor Using RAG for Syllabus-Aligned Learning  | 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Arial"/>
              </a:defRPr>
            </a:pPr>
            <a:r>
              <a:t>CAPSTONE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Proposed Solution: RAG-Grounded AI Tutor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2073" cy="4480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332073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66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Retrieval Augmented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66313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100">
                <a:solidFill>
                  <a:srgbClr val="F0F6FC"/>
                </a:solidFill>
              </a:defRPr>
            </a:pPr>
            <a:r>
              <a:t>• Converts syllabus documents, lecture notes, and textbooks into vector embeddings stored in a vector database.</a:t>
            </a:r>
          </a:p>
          <a:p>
            <a:pPr>
              <a:spcAft>
                <a:spcPts val="1200"/>
              </a:spcAft>
              <a:defRPr sz="1100">
                <a:solidFill>
                  <a:srgbClr val="F0F6FC"/>
                </a:solidFill>
              </a:defRPr>
            </a:pPr>
            <a:r>
              <a:t>• Retrieves top-k most relevant syllabus context blocks dynamically for every query.</a:t>
            </a:r>
          </a:p>
          <a:p>
            <a:pPr>
              <a:spcAft>
                <a:spcPts val="1200"/>
              </a:spcAft>
              <a:defRPr sz="1100">
                <a:solidFill>
                  <a:srgbClr val="F0F6FC"/>
                </a:solidFill>
              </a:defRPr>
            </a:pPr>
            <a:r>
              <a:t>• Prevents hallucinations by restricting LLM generation strictly to retrieved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9353" y="1554480"/>
            <a:ext cx="3332073" cy="4480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29353" y="1554480"/>
            <a:ext cx="3332073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2233" y="1691640"/>
            <a:ext cx="2966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Verifiable Source Citations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2233" y="2194560"/>
            <a:ext cx="2966313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100">
                <a:solidFill>
                  <a:srgbClr val="F0F6FC"/>
                </a:solidFill>
              </a:defRPr>
            </a:pPr>
            <a:r>
              <a:t>• Every AI response includes exact citations referencing document name, page number, and similarity score.</a:t>
            </a:r>
          </a:p>
          <a:p>
            <a:pPr>
              <a:spcAft>
                <a:spcPts val="1200"/>
              </a:spcAft>
              <a:defRPr sz="1100">
                <a:solidFill>
                  <a:srgbClr val="F0F6FC"/>
                </a:solidFill>
              </a:defRPr>
            </a:pPr>
            <a:r>
              <a:t>• Students can cross-check AI outputs directly against source textbooks for self-study.</a:t>
            </a:r>
          </a:p>
          <a:p>
            <a:pPr>
              <a:spcAft>
                <a:spcPts val="1200"/>
              </a:spcAft>
              <a:defRPr sz="1100">
                <a:solidFill>
                  <a:srgbClr val="F0F6FC"/>
                </a:solidFill>
              </a:defRPr>
            </a:pPr>
            <a:r>
              <a:t>• Transparent vector inspection allows testing vector similarity scores in real-time.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186" y="1554480"/>
            <a:ext cx="3332073" cy="4480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7186" y="1554480"/>
            <a:ext cx="3332073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066" y="1691640"/>
            <a:ext cx="2966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Comprehensive Prep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0066" y="2194560"/>
            <a:ext cx="2966313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100">
                <a:solidFill>
                  <a:srgbClr val="F0F6FC"/>
                </a:solidFill>
              </a:defRPr>
            </a:pPr>
            <a:r>
              <a:t>• Day-by-Day Study Roadmap Generator covering full preparation timeline up to Day N.</a:t>
            </a:r>
          </a:p>
          <a:p>
            <a:pPr>
              <a:spcAft>
                <a:spcPts val="1200"/>
              </a:spcAft>
              <a:defRPr sz="1100">
                <a:solidFill>
                  <a:srgbClr val="F0F6FC"/>
                </a:solidFill>
              </a:defRPr>
            </a:pPr>
            <a:r>
              <a:t>• Topic-Wise Practice Quiz Builder generating MCQs &amp; short answers with detailed step-by-step solution keys.</a:t>
            </a:r>
          </a:p>
          <a:p>
            <a:pPr>
              <a:spcAft>
                <a:spcPts val="1200"/>
              </a:spcAft>
              <a:defRPr sz="1100">
                <a:solidFill>
                  <a:srgbClr val="F0F6FC"/>
                </a:solidFill>
              </a:defRPr>
            </a:pPr>
            <a:r>
              <a:t>• Concept Clarifier providing intuitive real-world analogies for difficult topics.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AI-Based Personalized Tutor Using RAG for Syllabus-Aligned Learning  | 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Arial"/>
              </a:defRPr>
            </a:pPr>
            <a:r>
              <a:t>CAPSTONE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System Design &amp; Pipeline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Offline Ingestion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00">
                <a:solidFill>
                  <a:srgbClr val="F0F6FC"/>
                </a:solidFill>
              </a:defRPr>
            </a:pPr>
            <a:r>
              <a:t>1. Multi-Format Document Loader: Extracts clean raw text from PDF (pypdf), DOCX (python-docx), PPTX (python-pptx), and TXT files.</a:t>
            </a:r>
          </a:p>
          <a:p>
            <a:pPr>
              <a:spcAft>
                <a:spcPts val="800"/>
              </a:spcAft>
              <a:defRPr sz="1000">
                <a:solidFill>
                  <a:srgbClr val="F0F6FC"/>
                </a:solidFill>
              </a:defRPr>
            </a:pPr>
            <a:r>
              <a:t>1. Recursive Text Chunker: Splits raw text into ~450-character overlapping segments with 90-character overlap, preserving metadata tags (source, page, file_type).</a:t>
            </a:r>
          </a:p>
          <a:p>
            <a:pPr>
              <a:spcAft>
                <a:spcPts val="800"/>
              </a:spcAft>
              <a:defRPr sz="1000">
                <a:solidFill>
                  <a:srgbClr val="F0F6FC"/>
                </a:solidFill>
              </a:defRPr>
            </a:pPr>
            <a:r>
              <a:t>1. TF-IDF Vector Space Model: Transforms text chunks into TF-IDF vector space embeddings with sublinear term frequency scaling.</a:t>
            </a:r>
          </a:p>
          <a:p>
            <a:pPr>
              <a:spcAft>
                <a:spcPts val="800"/>
              </a:spcAft>
              <a:defRPr sz="1000">
                <a:solidFill>
                  <a:srgbClr val="F0F6FC"/>
                </a:solidFill>
              </a:defRPr>
            </a:pPr>
            <a:r>
              <a:t>1. In-Memory Vector Database: Indexes vector embeddings for high-speed local cosine similarity matching and source-level filtering.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554480"/>
            <a:ext cx="5120640" cy="4480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554480"/>
            <a:ext cx="5120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2415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Real-Time Query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2415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00">
                <a:solidFill>
                  <a:srgbClr val="F0F6FC"/>
                </a:solidFill>
              </a:defRPr>
            </a:pPr>
            <a:r>
              <a:t>2. Student Query Input: User submits a question or prompt via the interactive Streamlit chat interface.</a:t>
            </a:r>
          </a:p>
          <a:p>
            <a:pPr>
              <a:spcAft>
                <a:spcPts val="800"/>
              </a:spcAft>
              <a:defRPr sz="1000">
                <a:solidFill>
                  <a:srgbClr val="F0F6FC"/>
                </a:solidFill>
              </a:defRPr>
            </a:pPr>
            <a:r>
              <a:t>2. Vector Similarity Retriever: Computes cosine similarity between query vector and database chunks, selecting top-k relevant segments.</a:t>
            </a:r>
          </a:p>
          <a:p>
            <a:pPr>
              <a:spcAft>
                <a:spcPts val="800"/>
              </a:spcAft>
              <a:defRPr sz="1000">
                <a:solidFill>
                  <a:srgbClr val="F0F6FC"/>
                </a:solidFill>
              </a:defRPr>
            </a:pPr>
            <a:r>
              <a:t>2. Grounded LLM Generator: Passes top-k syllabus context blocks + strict system prompt to Google Gemini API (gemini-flash-latest).</a:t>
            </a:r>
          </a:p>
          <a:p>
            <a:pPr>
              <a:spcAft>
                <a:spcPts val="800"/>
              </a:spcAft>
              <a:defRPr sz="1000">
                <a:solidFill>
                  <a:srgbClr val="F0F6FC"/>
                </a:solidFill>
              </a:defRPr>
            </a:pPr>
            <a:r>
              <a:t>2. Citations &amp; Output Rendering: Renders structured markdown answer with expandable citation cards displaying document name, page, and snippet.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AI-Based Personalized Tutor Using RAG for Syllabus-Aligned Learning  | 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Arial"/>
              </a:defRPr>
            </a:pPr>
            <a:r>
              <a:t>CAPSTONE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Key System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Multi-Syllabus Scope Selector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6FC"/>
                </a:solidFill>
              </a:defRPr>
            </a:pPr>
            <a:r>
              <a:t>Allows students to query across 'All Documents' simultaneously or narrow scope to a specific subject file. Supports duplicate file updates without indexing conflicts.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554480"/>
            <a:ext cx="512064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554480"/>
            <a:ext cx="5120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2415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Instant Doubt Resolution with Citations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2415" y="2103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6FC"/>
                </a:solidFill>
              </a:defRPr>
            </a:pPr>
            <a:r>
              <a:t>Interactive chat workspace providing instant syllabus-grounded answers. Each response features expandable citation cards with exact document source, page number, and similarity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120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Day-by-Day Study Roadmap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6FC"/>
                </a:solidFill>
              </a:defRPr>
            </a:pPr>
            <a:r>
              <a:t>Builds a complete, un-truncated study schedule spanning from Day 1 to Day N (up to 60 days). Samples topics proportionally across all uploaded syllabus documents.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3931920"/>
            <a:ext cx="512064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9535" y="3931920"/>
            <a:ext cx="5120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2415" y="4069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Practice Quiz &amp; Concept Clarifier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415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6FC"/>
                </a:solidFill>
              </a:defRPr>
            </a:pPr>
            <a:r>
              <a:t>Generates exam-style practice question papers (MCQs + short answer) with detailed solution keys, and clarifies complex topics using intuitive real-world analogies.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AI-Based Personalized Tutor Using RAG for Syllabus-Aligned Learning  | 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Arial"/>
              </a:defRPr>
            </a:pPr>
            <a:r>
              <a:t>CAPSTONE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Output &amp; Results — System Interface Dashboard</a:t>
            </a:r>
          </a:p>
        </p:txBody>
      </p:sp>
      <p:pic>
        <p:nvPicPr>
          <p:cNvPr id="4" name="Picture 3" descr="dashboard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463040"/>
            <a:ext cx="3413455" cy="4480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1463040"/>
            <a:ext cx="341345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600200"/>
            <a:ext cx="3047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Results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103120"/>
            <a:ext cx="30476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00">
                <a:solidFill>
                  <a:srgbClr val="F0F6FC"/>
                </a:solidFill>
              </a:defRPr>
            </a:pPr>
            <a:r>
              <a:t>• Visual Excellence: Executive dark charcoal design system with Emerald Teal typography and responsive metric cards.</a:t>
            </a:r>
          </a:p>
          <a:p>
            <a:pPr>
              <a:spcAft>
                <a:spcPts val="800"/>
              </a:spcAft>
              <a:defRPr sz="1000">
                <a:solidFill>
                  <a:srgbClr val="F0F6FC"/>
                </a:solidFill>
              </a:defRPr>
            </a:pPr>
            <a:r>
              <a:t>• Instant Grounded Q&amp;A: Verified 100% syllabus-aligned responses with collapsible source citation cards.</a:t>
            </a:r>
          </a:p>
          <a:p>
            <a:pPr>
              <a:spcAft>
                <a:spcPts val="800"/>
              </a:spcAft>
              <a:defRPr sz="1000">
                <a:solidFill>
                  <a:srgbClr val="F0F6FC"/>
                </a:solidFill>
              </a:defRPr>
            </a:pPr>
            <a:r>
              <a:t>• Multi-Format Ingestion: Successfully processes PDF, DOCX, PPTX, and TXT documents.</a:t>
            </a:r>
          </a:p>
          <a:p>
            <a:pPr>
              <a:spcAft>
                <a:spcPts val="800"/>
              </a:spcAft>
              <a:defRPr sz="1000">
                <a:solidFill>
                  <a:srgbClr val="F0F6FC"/>
                </a:solidFill>
              </a:defRPr>
            </a:pPr>
            <a:r>
              <a:t>• Full Day-by-Day Roadmap: Generates complete, un-truncated prep schedules covering all requested days.</a:t>
            </a:r>
          </a:p>
          <a:p>
            <a:pPr>
              <a:spcAft>
                <a:spcPts val="800"/>
              </a:spcAft>
              <a:defRPr sz="1000">
                <a:solidFill>
                  <a:srgbClr val="F0F6FC"/>
                </a:solidFill>
              </a:defRPr>
            </a:pPr>
            <a:r>
              <a:t>• Zero Database Leakage: Clean database clearing wipes vector store completely with 0 lingering chunks.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AI-Based Personalized Tutor Using RAG for Syllabus-Aligned Learning  |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Arial"/>
              </a:defRPr>
            </a:pPr>
            <a:r>
              <a:t>CAPSTONE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System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2073" cy="4480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332073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66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Input Data Quality Dependency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66313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0F6FC"/>
                </a:solidFill>
              </a:defRPr>
            </a:pPr>
            <a:r>
              <a:t>• RAG output accuracy directly depends on the quality and completeness of uploaded syllabus documents.</a:t>
            </a:r>
          </a:p>
          <a:p>
            <a:pPr>
              <a:spcAft>
                <a:spcPts val="1000"/>
              </a:spcAft>
              <a:defRPr sz="1100">
                <a:solidFill>
                  <a:srgbClr val="F0F6FC"/>
                </a:solidFill>
              </a:defRPr>
            </a:pPr>
            <a:r>
              <a:t>• Scanned PDFs without OCR or corrupted text files may yield low text extraction quality.</a:t>
            </a:r>
          </a:p>
          <a:p>
            <a:pPr>
              <a:spcAft>
                <a:spcPts val="1000"/>
              </a:spcAft>
              <a:defRPr sz="1100">
                <a:solidFill>
                  <a:srgbClr val="F0F6FC"/>
                </a:solidFill>
              </a:defRPr>
            </a:pPr>
            <a:r>
              <a:t>• Incomplete syllabus uploads result in partial context retrieval for complex topics.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9353" y="1554480"/>
            <a:ext cx="3332073" cy="4480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29353" y="1554480"/>
            <a:ext cx="3332073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2233" y="1691640"/>
            <a:ext cx="2966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Text-Based Extraction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2233" y="2194560"/>
            <a:ext cx="2966313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0F6FC"/>
                </a:solidFill>
              </a:defRPr>
            </a:pPr>
            <a:r>
              <a:t>• Text-based RAG engines struggle to automatically extract and generate complex diagrams, flowcharts, or formulas inside images.</a:t>
            </a:r>
          </a:p>
          <a:p>
            <a:pPr>
              <a:spcAft>
                <a:spcPts val="1000"/>
              </a:spcAft>
              <a:defRPr sz="1100">
                <a:solidFill>
                  <a:srgbClr val="F0F6FC"/>
                </a:solidFill>
              </a:defRPr>
            </a:pPr>
            <a:r>
              <a:t>• Complex mathematical notation in unformatted text may require LaTeX formatting.</a:t>
            </a:r>
          </a:p>
          <a:p>
            <a:pPr>
              <a:spcAft>
                <a:spcPts val="1000"/>
              </a:spcAft>
              <a:defRPr sz="1100">
                <a:solidFill>
                  <a:srgbClr val="F0F6FC"/>
                </a:solidFill>
              </a:defRPr>
            </a:pPr>
            <a:r>
              <a:t>• Non-standard PPTX slide layouts can alter section boundaries.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186" y="1554480"/>
            <a:ext cx="3332073" cy="4480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7186" y="1554480"/>
            <a:ext cx="3332073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066" y="1691640"/>
            <a:ext cx="29663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Ambiguity &amp; API Boundaries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0066" y="2194560"/>
            <a:ext cx="2966313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0F6FC"/>
                </a:solidFill>
              </a:defRPr>
            </a:pPr>
            <a:r>
              <a:t>• Highly ambiguous student queries can retrieve low-relevance vector chunks.</a:t>
            </a:r>
          </a:p>
          <a:p>
            <a:pPr>
              <a:spcAft>
                <a:spcPts val="1000"/>
              </a:spcAft>
              <a:defRPr sz="1100">
                <a:solidFill>
                  <a:srgbClr val="F0F6FC"/>
                </a:solidFill>
              </a:defRPr>
            </a:pPr>
            <a:r>
              <a:t>• LLM API rate limits (HTTP 429) can occur if queries are submitted in rapid automated succession.</a:t>
            </a:r>
          </a:p>
          <a:p>
            <a:pPr>
              <a:spcAft>
                <a:spcPts val="1000"/>
              </a:spcAft>
              <a:defRPr sz="1100">
                <a:solidFill>
                  <a:srgbClr val="F0F6FC"/>
                </a:solidFill>
              </a:defRPr>
            </a:pPr>
            <a:r>
              <a:t>• Language limitations exist for highly technical non-English syllabus documents.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AI-Based Personalized Tutor Using RAG for Syllabus-Aligned Learning  | 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Arial"/>
              </a:defRPr>
            </a:pPr>
            <a:r>
              <a:t>CAPSTONE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Future Scope &amp;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Multimodal RAG Engine (Vision &amp; Diagrams)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6FC"/>
                </a:solidFill>
              </a:defRPr>
            </a:pPr>
            <a:r>
              <a:t>Integrate Multimodal Gemini Vision models to extract and generate architectural diagrams, flowcharts, circuits, and handwritten lecture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554480"/>
            <a:ext cx="512064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9535" y="1554480"/>
            <a:ext cx="5120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2415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Student Progress &amp; Analytics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2415" y="2103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6FC"/>
                </a:solidFill>
              </a:defRPr>
            </a:pPr>
            <a:r>
              <a:t>Add student performance tracking, quiz score analytics, topic mastery progress bars, and weak-area diagnostic recommendations.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120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Institutional LMS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6FC"/>
                </a:solidFill>
              </a:defRPr>
            </a:pPr>
            <a:r>
              <a:t>Connect directly with Learning Management Systems (Canvas, Moodle, Blackboard) to auto-sync course syllabi, assignments, and exam 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3931920"/>
            <a:ext cx="512064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9535" y="3931920"/>
            <a:ext cx="5120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2415" y="4069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Adaptive Learning &amp; Multi-Language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415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6FC"/>
                </a:solidFill>
              </a:defRPr>
            </a:pPr>
            <a:r>
              <a:t>Implement adaptive difficulty quiz generation and real-time multi-lingual translation for non-native English speakers across global curricula.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AI-Based Personalized Tutor Using RAG for Syllabus-Aligned Learning  | 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Arial"/>
              </a:defRPr>
            </a:pPr>
            <a:r>
              <a:t>CAPSTONE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Arial"/>
              </a:defRPr>
            </a:pPr>
            <a:r>
              <a:t>Technology Stack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480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72865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Full Technology Stack Matrix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194560"/>
          <a:ext cx="103628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 Used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Role in Architecture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Highlights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Frontend UI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Streamlit 1.61+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User Interface &amp; Tab Navigation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Executive dark charcoal design system, Google Fonts (Plus Jakarta Sans &amp; Inter)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Document Parsers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pypdf, python-docx, python-pptx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Multi-Format File Ingestion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Extracts clean text from PDF, DOCX, PPTX, &amp; TXT documents with overwrite safety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Vector Database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TF-IDF + Cosine Similarity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Embedding Index &amp; Matcher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Scikit-learn Vector Space Model with sublinear TF scaling and source-level filtering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LLM Backend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Google Gemini API (gemini-flash-latest)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RAG Generation &amp; Tutoring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Strict syllabus-grounded prompts, automatic failover candidates, 4,000+ token limits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AI-Based Personalized Tutor Using RAG for Syllabus-Aligned Learning  | 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94484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998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200" b="1">
                <a:solidFill>
                  <a:srgbClr val="34D399"/>
                </a:solidFill>
              </a:defRPr>
            </a:pPr>
            <a:r>
              <a:t>CAPSTONE PROJECT PRESENTATION</a:t>
            </a:r>
          </a:p>
          <a:p>
            <a:pPr>
              <a:spcAft>
                <a:spcPts val="1400"/>
              </a:spcAft>
              <a:defRPr sz="4000" b="1">
                <a:solidFill>
                  <a:srgbClr val="F0F6FC"/>
                </a:solidFill>
              </a:defRPr>
            </a:pPr>
            <a:r>
              <a:t>THANK YOU!</a:t>
            </a:r>
          </a:p>
          <a:p>
            <a:pPr>
              <a:spcAft>
                <a:spcPts val="2500"/>
              </a:spcAft>
              <a:defRPr sz="2000" b="1">
                <a:solidFill>
                  <a:srgbClr val="F59E0B"/>
                </a:solidFill>
              </a:defRPr>
            </a:pPr>
            <a:r>
              <a:t>Questions &amp; Discussion</a:t>
            </a:r>
          </a:p>
          <a:p>
            <a:pPr>
              <a:defRPr sz="1400">
                <a:solidFill>
                  <a:srgbClr val="8B949E"/>
                </a:solidFill>
              </a:defRPr>
            </a:pPr>
            <a:r>
              <a:t>AI-Based Personalized Tutor Using RAG for Syllabus-Aligned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AI-Based Personalized Tutor Using RAG for Syllabus-Aligned Learning  | 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